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75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43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82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77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01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1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3599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868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817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42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514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91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21699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20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499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82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708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4662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619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6661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433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2940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3661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365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52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997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2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40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8016" y="0"/>
            <a:ext cx="12319711" cy="6858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13232" y="1078992"/>
            <a:ext cx="73152" cy="4663440"/>
          </a:xfrm>
          <a:prstGeom prst="rect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8549640" y="4526280"/>
            <a:ext cx="822960" cy="73152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0" y="4526280"/>
            <a:ext cx="731520" cy="36576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104120" y="3429000"/>
            <a:ext cx="731520" cy="146304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35640" y="3429000"/>
            <a:ext cx="640080" cy="45720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372600" y="3154680"/>
            <a:ext cx="365760" cy="137160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23960" y="3154680"/>
            <a:ext cx="914400" cy="18288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2423160"/>
            <a:ext cx="1005840" cy="73152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0744200" y="2423160"/>
            <a:ext cx="91440" cy="1005840"/>
          </a:xfrm>
          <a:prstGeom prst="line">
            <a:avLst/>
          </a:prstGeom>
          <a:ln w="19050">
            <a:solidFill>
              <a:srgbClr val="2D6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94776" y="520293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17736" y="447141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49256" y="483717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80776" y="337413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20856" y="383133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83496" y="309981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69096" y="328269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89336" y="2368296"/>
            <a:ext cx="109728" cy="109728"/>
          </a:xfrm>
          <a:prstGeom prst="ellipse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5422392"/>
            <a:ext cx="347472" cy="384048"/>
          </a:xfrm>
          <a:prstGeom prst="rect">
            <a:avLst/>
          </a:prstGeom>
          <a:solidFill>
            <a:srgbClr val="26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4690872"/>
            <a:ext cx="347472" cy="749808"/>
          </a:xfrm>
          <a:prstGeom prst="rect">
            <a:avLst/>
          </a:prstGeom>
          <a:solidFill>
            <a:srgbClr val="26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46920" y="5056632"/>
            <a:ext cx="347472" cy="566928"/>
          </a:xfrm>
          <a:prstGeom prst="rect">
            <a:avLst/>
          </a:prstGeom>
          <a:solidFill>
            <a:srgbClr val="26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87000" y="3959352"/>
            <a:ext cx="347472" cy="1115568"/>
          </a:xfrm>
          <a:prstGeom prst="rect">
            <a:avLst/>
          </a:prstGeom>
          <a:solidFill>
            <a:srgbClr val="26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27080" y="4800600"/>
            <a:ext cx="347472" cy="685800"/>
          </a:xfrm>
          <a:prstGeom prst="rect">
            <a:avLst/>
          </a:prstGeom>
          <a:solidFill>
            <a:srgbClr val="26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107899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0BEC4"/>
                </a:solidFill>
                <a:latin typeface="Aptos"/>
              </a:defRPr>
            </a:pPr>
            <a:r>
              <a:rPr dirty="0"/>
              <a:t>NTI • SUMMER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1828800"/>
            <a:ext cx="3836499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DATA ANALYSIS</a:t>
            </a:r>
          </a:p>
          <a:p>
            <a:pPr>
              <a:defRPr sz="4200" b="1">
                <a:solidFill>
                  <a:srgbClr val="40BEC4"/>
                </a:solidFill>
                <a:latin typeface="Aptos Display"/>
              </a:defRPr>
            </a:pPr>
            <a:r>
              <a:rPr dirty="0"/>
              <a:t>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56432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5E4"/>
                </a:solidFill>
                <a:latin typeface="Aptos"/>
              </a:defRPr>
            </a:pPr>
            <a:r>
              <a:rPr dirty="0"/>
              <a:t>From Raw Data to Business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15968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B4CD"/>
                </a:solidFill>
                <a:latin typeface="Aptos"/>
              </a:defRPr>
            </a:pPr>
            <a:r>
              <a:t>SQL  •  SSIS  •  Data Warehouse  •  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80644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299B4"/>
                </a:solidFill>
                <a:latin typeface="Aptos"/>
              </a:defRPr>
            </a:pPr>
            <a:r>
              <a:t>Project Presentation  | 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" y="5074920"/>
            <a:ext cx="1920240" cy="32004"/>
          </a:xfrm>
          <a:prstGeom prst="rect">
            <a:avLst/>
          </a:prstGeom>
          <a:solidFill>
            <a:srgbClr val="40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C0BA261-9339-9BCD-20DF-22509CEB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816" y="97352"/>
            <a:ext cx="1546832" cy="15485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303C5D0-1A8E-8096-E637-38EE91C587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765" y="104917"/>
            <a:ext cx="1541004" cy="15410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48" y="-140071"/>
            <a:ext cx="12636088" cy="71077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" y="2016769"/>
            <a:ext cx="2372487" cy="3971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214" y="2014537"/>
            <a:ext cx="2372487" cy="3971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926" y="2014537"/>
            <a:ext cx="2372487" cy="397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638" y="2016769"/>
            <a:ext cx="2371344" cy="3971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 dirty="0">
                <a:solidFill>
                  <a:srgbClr val="FFFFFF"/>
                </a:solidFill>
                <a:latin typeface="Poppins"/>
              </a:rPr>
              <a:t>Our Project Team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132" y="2188219"/>
            <a:ext cx="2057490" cy="2933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1916" y="5302894"/>
            <a:ext cx="207592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i="0" u="none" dirty="0">
                <a:solidFill>
                  <a:srgbClr val="F8FAFC"/>
                </a:solidFill>
                <a:latin typeface="Poppins"/>
              </a:rPr>
              <a:t>O</a:t>
            </a:r>
            <a:r>
              <a:rPr lang="en-US" sz="1500" b="1" dirty="0">
                <a:solidFill>
                  <a:srgbClr val="F8FAFC"/>
                </a:solidFill>
                <a:latin typeface="Poppins"/>
              </a:rPr>
              <a:t>mar </a:t>
            </a:r>
            <a:endParaRPr sz="1500" b="1" i="0" u="none" dirty="0">
              <a:solidFill>
                <a:srgbClr val="F8FAFC"/>
              </a:solidFill>
              <a:latin typeface="Poppin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2234" y="2185987"/>
            <a:ext cx="2058481" cy="2933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03899" y="5300662"/>
            <a:ext cx="207592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Poppins"/>
              </a:rPr>
              <a:t>Yousef</a:t>
            </a:r>
            <a:endParaRPr sz="1500" b="1" i="0" u="none" dirty="0">
              <a:solidFill>
                <a:srgbClr val="F8FAFC"/>
              </a:solidFill>
              <a:latin typeface="Poppin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276" y="2218943"/>
            <a:ext cx="2058481" cy="2933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08751" y="5333618"/>
            <a:ext cx="207592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Poppins"/>
              </a:rPr>
              <a:t>Ahmed</a:t>
            </a:r>
            <a:endParaRPr sz="1500" b="1" i="0" u="none" dirty="0">
              <a:solidFill>
                <a:srgbClr val="F8FAFC"/>
              </a:solidFill>
              <a:latin typeface="Poppin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36" y="2197744"/>
            <a:ext cx="2058481" cy="2933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69563" y="5302894"/>
            <a:ext cx="207492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i="0" u="none" dirty="0">
                <a:solidFill>
                  <a:srgbClr val="F8FAFC"/>
                </a:solidFill>
                <a:latin typeface="Poppins"/>
              </a:rPr>
              <a:t>Abdelrahman</a:t>
            </a:r>
            <a:endParaRPr sz="1500" b="1" i="0" u="none" dirty="0">
              <a:solidFill>
                <a:srgbClr val="F8FAFC"/>
              </a:solidFill>
              <a:latin typeface="Poppins"/>
            </a:endParaRP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98D9ABC-64FB-5D34-EEC3-11FAA135C7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8356" y="2016769"/>
            <a:ext cx="2371344" cy="3910797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57B01D84-F313-3B3A-9584-4A10B5C2FA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1706" y="2136616"/>
            <a:ext cx="2069000" cy="304689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1DB46C8-EE6F-C028-5341-59D5044392BE}"/>
              </a:ext>
            </a:extLst>
          </p:cNvPr>
          <p:cNvSpPr txBox="1"/>
          <p:nvPr/>
        </p:nvSpPr>
        <p:spPr>
          <a:xfrm>
            <a:off x="9872181" y="5394167"/>
            <a:ext cx="20905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F1F5F9"/>
                </a:solidFill>
                <a:latin typeface="Plus Jakarta Sans"/>
              </a:rPr>
              <a:t>Mohammed</a:t>
            </a:r>
            <a:endParaRPr sz="2000" b="1" i="0" u="none" dirty="0">
              <a:solidFill>
                <a:srgbClr val="F1F5F9"/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  <p:bldP spid="23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062557" cy="2298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Project objective and business requirements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SQL Server: staging, ODS, and data warehouse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SSIS: ETL, transformation, and data loading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Dimensional modeling and Star Schema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Power BI: DAX, KPIs, visualizations, and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1. 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Analyze Superstore sales data to understand business performance.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Transform raw transactional data into a reliable analytical model.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Build a Data Warehouse optimized for reporting and analysis.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Create interactive Power BI dashboards for decision support.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Answer measurable business questions using KPIs and visual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186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2. Data Collection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88192" cy="1349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Source: Superstore Sales Dataset (Kaggle).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Raw data was reviewed to understand columns, data types, missing values, and duplicates</a:t>
            </a:r>
            <a:r>
              <a:rPr lang="ar-EG" dirty="0"/>
              <a:t>.</a:t>
            </a:r>
            <a:endParaRPr dirty="0"/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Sales and order-related fields were selected as the foundation for analytical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3. End-to-End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2390" y="2361831"/>
            <a:ext cx="150876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633472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Kaggle</a:t>
            </a:r>
            <a:br/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7746" y="266124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3058" y="2361831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4146" y="2617863"/>
            <a:ext cx="114428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SQL Server</a:t>
            </a:r>
            <a:br>
              <a:rPr dirty="0"/>
            </a:br>
            <a:r>
              <a:rPr lang="en-US" dirty="0"/>
              <a:t>ODS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698305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4450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2109" y="2331720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613" y="2587752"/>
            <a:ext cx="14328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Cleaned &amp;</a:t>
            </a: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Modeled Data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517452" y="267953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06B6D4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4075" y="2313770"/>
            <a:ext cx="150876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02295" y="2569802"/>
            <a:ext cx="1371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Power BI</a:t>
            </a:r>
            <a:br>
              <a:rPr dirty="0"/>
            </a:br>
            <a:r>
              <a:rPr dirty="0"/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  <a:latin typeface="Aptos"/>
              </a:rPr>
              <a:t>A complete pipeline from raw data ingestion to business intelligence.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7AD13462-6F75-B4D6-33B4-52B46635C8EE}"/>
              </a:ext>
            </a:extLst>
          </p:cNvPr>
          <p:cNvSpPr/>
          <p:nvPr/>
        </p:nvSpPr>
        <p:spPr>
          <a:xfrm>
            <a:off x="5214941" y="2313771"/>
            <a:ext cx="15087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35B8E-7F06-1836-A8C7-E85BA51032F0}"/>
              </a:ext>
            </a:extLst>
          </p:cNvPr>
          <p:cNvSpPr txBox="1"/>
          <p:nvPr/>
        </p:nvSpPr>
        <p:spPr>
          <a:xfrm>
            <a:off x="5416474" y="2446912"/>
            <a:ext cx="10052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SSIS</a:t>
            </a:r>
          </a:p>
          <a:p>
            <a:pPr algn="ctr"/>
            <a:r>
              <a:rPr lang="en-US" sz="1500" b="1" dirty="0">
                <a:solidFill>
                  <a:srgbClr val="F8FAFC"/>
                </a:solidFill>
                <a:latin typeface="Aptos"/>
              </a:rPr>
              <a:t>STG</a:t>
            </a:r>
            <a:r>
              <a:rPr sz="1500" b="1" dirty="0">
                <a:solidFill>
                  <a:srgbClr val="F8FAFC"/>
                </a:solidFill>
                <a:latin typeface="Aptos"/>
              </a:rPr>
              <a:t>/</a:t>
            </a:r>
            <a:r>
              <a:rPr lang="en-US" sz="1400" b="1" dirty="0"/>
              <a:t>DWH</a:t>
            </a:r>
            <a:endParaRPr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6" grpId="0" animBg="1"/>
      <p:bldP spid="17" grpId="0"/>
      <p:bldP spid="19" grpId="0" animBg="1"/>
      <p:bldP spid="20" grpId="0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4. SQL Server –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8987973" cy="22980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SQL Server was used as the central platform for data storage.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ODS</a:t>
            </a:r>
            <a:r>
              <a:rPr dirty="0"/>
              <a:t> </a:t>
            </a:r>
            <a:r>
              <a:rPr lang="en-US" dirty="0"/>
              <a:t>(Operational Data Store)</a:t>
            </a:r>
            <a:r>
              <a:rPr dirty="0"/>
              <a:t> stores incoming/raw data before transformation.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STG (Staging) </a:t>
            </a:r>
            <a:r>
              <a:rPr dirty="0"/>
              <a:t>provides a cleaner and more structured layer.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DWH (Data Warehouse) stores the final analytical model.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SQL DDL was used to create schemas, tables</a:t>
            </a:r>
            <a:r>
              <a:rPr lang="en-US" dirty="0"/>
              <a:t> and</a:t>
            </a:r>
            <a:r>
              <a:rPr dirty="0"/>
              <a:t>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90C83-C6D7-1E22-337A-71DD74B1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4157974"/>
            <a:ext cx="3822192" cy="21996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5C98CD-671B-5E92-4C85-DAAC9C69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20" y="4157974"/>
            <a:ext cx="3822192" cy="21918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6E7539-714A-467A-A1DC-93D327E2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3" y="4149179"/>
            <a:ext cx="3822193" cy="2200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5. SSIS – ETL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051260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SSIS was used to automate the Extract, Transform, and Load process.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Extract: read data from the source/</a:t>
            </a:r>
            <a:r>
              <a:rPr lang="en-US" dirty="0"/>
              <a:t>ODS</a:t>
            </a:r>
            <a:r>
              <a:rPr dirty="0"/>
              <a:t> layer.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Transform: clean, convert, validate, and map data into the target structure.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Load: populate </a:t>
            </a:r>
            <a:r>
              <a:rPr lang="en-US" dirty="0"/>
              <a:t>STG/</a:t>
            </a:r>
            <a:r>
              <a:rPr dirty="0"/>
              <a:t>DWH tables while preserving data quality and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4B588B-A8F0-E84A-72C7-EBC21456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819679"/>
            <a:ext cx="3823716" cy="2626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79DC0-35A9-8107-80F7-A904605E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02" y="3819680"/>
            <a:ext cx="3823716" cy="2626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1C133F-2813-6706-50F8-75A780DA3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784" y="3794760"/>
            <a:ext cx="3823716" cy="2626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6. Why a Data Warehouse?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" y="1600200"/>
            <a:ext cx="12118848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Separates analytical workloads from operational/raw data.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Integrates cleaned and transformed data into a consistent structure.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Improves reporting performance and makes historical analysis easier.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rPr dirty="0"/>
              <a:t>• Provides a single source of truth for Power BI and business reporting.</a:t>
            </a:r>
            <a:endParaRPr lang="en-US" dirty="0"/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Separation of concerns (SoC) is a core software design principle that divides a computer </a:t>
            </a:r>
            <a:r>
              <a:rPr lang="en-US" dirty="0" err="1"/>
              <a:t>programinto</a:t>
            </a:r>
            <a:r>
              <a:rPr lang="en-US" dirty="0"/>
              <a:t> distinct sections, such that each section addresses a separate responsibility or feature.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7. Dimensional Modeling – Star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2331720"/>
            <a:ext cx="2834640" cy="1234440"/>
          </a:xfrm>
          <a:prstGeom prst="round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600" y="2578608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Fact_Sales</a:t>
            </a:r>
            <a:br/>
            <a:r>
              <a:t>Central Fact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2588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04894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7921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Dim_Location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39" y="4104894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799" y="440740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 err="1">
                <a:solidFill>
                  <a:srgbClr val="F8FAFC"/>
                </a:solidFill>
                <a:latin typeface="Aptos"/>
              </a:rPr>
              <a:t>Dim_Ship_Mode</a:t>
            </a:r>
            <a:endParaRPr sz="16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571500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One-to-many relationships enable efficient slicing, filtering, and aggregation.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2CC70A-0DC4-FE91-CB84-B1C8BBEAA2A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91840" y="1783080"/>
            <a:ext cx="1356360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DE66470E-6A4A-5CD5-B4A2-1D0D2E4EF4CB}"/>
              </a:ext>
            </a:extLst>
          </p:cNvPr>
          <p:cNvSpPr/>
          <p:nvPr/>
        </p:nvSpPr>
        <p:spPr>
          <a:xfrm>
            <a:off x="4892040" y="443484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Dim_Date</a:t>
            </a:r>
            <a:endParaRPr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3ADC1B-71BD-DD73-836D-50A115B2F3CB}"/>
              </a:ext>
            </a:extLst>
          </p:cNvPr>
          <p:cNvCxnSpPr>
            <a:cxnSpLocks/>
          </p:cNvCxnSpPr>
          <p:nvPr/>
        </p:nvCxnSpPr>
        <p:spPr>
          <a:xfrm flipH="1">
            <a:off x="7498080" y="1792986"/>
            <a:ext cx="1234440" cy="599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1E985CA-90CA-8DD1-ED24-3D38A512D26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474720" y="3593593"/>
            <a:ext cx="1203961" cy="96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ADD95B-BDEE-3141-95BC-0D5F6BF891B5}"/>
              </a:ext>
            </a:extLst>
          </p:cNvPr>
          <p:cNvCxnSpPr>
            <a:cxnSpLocks/>
            <a:stCxn id="26" idx="0"/>
            <a:endCxn id="4" idx="2"/>
          </p:cNvCxnSpPr>
          <p:nvPr/>
        </p:nvCxnSpPr>
        <p:spPr>
          <a:xfrm flipV="1">
            <a:off x="6080760" y="3566160"/>
            <a:ext cx="0" cy="868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53D14CC-8711-D46C-49B0-25590C6AD74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7513320" y="3566160"/>
            <a:ext cx="1036319" cy="995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8. 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$2,261,536.78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4,922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306324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237744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926080"/>
            <a:ext cx="2697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9,800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6344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Aptos"/>
              </a:rPr>
              <a:t>These KPIs provide the high-level snapshot used throughout the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9. Power BI &amp;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Power BI connects to the final analytical model in the Data Warehouse.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DAX measures calculate KPIs and support dynamic analysis.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Filters and slicers allow users to explore performance by different dimensions.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dashboard combines cards, charts, maps, treemaps, and other visuals.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10. Power BI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1722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Replace the placeholders with your final Power BI dashboard screenshots.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B3D1C-E9B3-FB72-4A09-FB2AB00B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4" y="2011680"/>
            <a:ext cx="4033797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0F262-3678-7680-2C30-9DC75AEF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21" y="2011680"/>
            <a:ext cx="3941065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459B68-EC5F-1FDE-6F61-E28DD4BAA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467" y="2011680"/>
            <a:ext cx="4033797" cy="3429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6244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F8FAFC"/>
                </a:solidFill>
                <a:latin typeface="Aptos"/>
              </a:rPr>
              <a:t>1</a:t>
            </a:r>
            <a:r>
              <a:rPr lang="en-US" sz="2800" b="1" dirty="0">
                <a:solidFill>
                  <a:srgbClr val="F8FAFC"/>
                </a:solidFill>
                <a:latin typeface="Aptos"/>
              </a:rPr>
              <a:t>1</a:t>
            </a:r>
            <a:r>
              <a:rPr sz="2800" b="1" dirty="0">
                <a:solidFill>
                  <a:srgbClr val="F8FAFC"/>
                </a:solidFill>
                <a:latin typeface="Aptos"/>
              </a:rPr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project demonstrates a complete Data Analytics and BI workflow.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Raw data was transformed into a structured Data Warehouse through ETL.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Star Schema modeling made the data easier and faster to analyze.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Power BI converted the analytical model into interactive business dashboards.</a:t>
            </a:r>
          </a:p>
          <a:p>
            <a:pPr>
              <a:spcAft>
                <a:spcPts val="13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The final solution supports data-driven decision 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NTI Final Project • Data Analysis &amp;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726</TotalTime>
  <Words>675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Nova Light</vt:lpstr>
      <vt:lpstr>Plus Jakarta Sans</vt:lpstr>
      <vt:lpstr>Poppins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42024007</cp:lastModifiedBy>
  <cp:revision>18</cp:revision>
  <dcterms:created xsi:type="dcterms:W3CDTF">2013-01-27T09:14:16Z</dcterms:created>
  <dcterms:modified xsi:type="dcterms:W3CDTF">2026-08-08T06:55:44Z</dcterms:modified>
  <cp:category/>
</cp:coreProperties>
</file>